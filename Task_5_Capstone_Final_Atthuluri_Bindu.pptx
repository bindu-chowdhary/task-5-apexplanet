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7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64008" cy="6858000"/>
          </a:xfrm>
          <a:prstGeom prst="rect">
            <a:avLst/>
          </a:prstGeom>
          <a:solidFill>
            <a:srgbClr val="4B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6928" y="0"/>
            <a:ext cx="192024" cy="6858000"/>
          </a:xfrm>
          <a:prstGeom prst="rect">
            <a:avLst/>
          </a:prstGeom>
          <a:solidFill>
            <a:srgbClr val="307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B5DA"/>
                </a:solidFill>
              </a:defRPr>
            </a:pPr>
            <a:r>
              <a:t>TASK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241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Capstone Integration &amp;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Portfolio Finalization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DEEE"/>
                </a:solidFill>
              </a:defRPr>
            </a:pPr>
            <a:r>
              <a:t>Data Analytics Internship • E-Commerce Sales Performance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22191"/>
            <a:ext cx="1828800" cy="41148"/>
          </a:xfrm>
          <a:prstGeom prst="rect">
            <a:avLst/>
          </a:prstGeom>
          <a:solidFill>
            <a:srgbClr val="4B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Atthuluri Bindu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5B8D3"/>
                </a:solidFill>
              </a:defRPr>
            </a:pPr>
            <a:r>
              <a:t>Final Portfolio Presentation • September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91472" y="1673352"/>
            <a:ext cx="946404" cy="32004"/>
          </a:xfrm>
          <a:prstGeom prst="rect">
            <a:avLst/>
          </a:prstGeom>
          <a:solidFill>
            <a:srgbClr val="5A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43032" y="2587752"/>
            <a:ext cx="-987551" cy="32004"/>
          </a:xfrm>
          <a:prstGeom prst="rect">
            <a:avLst/>
          </a:prstGeom>
          <a:solidFill>
            <a:srgbClr val="5A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45752" y="3502152"/>
            <a:ext cx="987551" cy="32004"/>
          </a:xfrm>
          <a:prstGeom prst="rect">
            <a:avLst/>
          </a:prstGeom>
          <a:solidFill>
            <a:srgbClr val="5A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43032" y="4416552"/>
            <a:ext cx="-987551" cy="32004"/>
          </a:xfrm>
          <a:prstGeom prst="rect">
            <a:avLst/>
          </a:prstGeom>
          <a:solidFill>
            <a:srgbClr val="5A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1417320"/>
            <a:ext cx="658368" cy="658368"/>
          </a:xfrm>
          <a:prstGeom prst="ellipse">
            <a:avLst/>
          </a:prstGeom>
          <a:solidFill>
            <a:srgbClr val="307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49047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2DEEE"/>
                </a:solidFill>
              </a:defRPr>
            </a:pPr>
            <a:r>
              <a:t>DATA</a:t>
            </a:r>
          </a:p>
        </p:txBody>
      </p:sp>
      <p:sp>
        <p:nvSpPr>
          <p:cNvPr id="18" name="Oval 17"/>
          <p:cNvSpPr/>
          <p:nvPr/>
        </p:nvSpPr>
        <p:spPr>
          <a:xfrm>
            <a:off x="10287000" y="2331720"/>
            <a:ext cx="658368" cy="658368"/>
          </a:xfrm>
          <a:prstGeom prst="ellipse">
            <a:avLst/>
          </a:prstGeom>
          <a:solidFill>
            <a:srgbClr val="4B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36808" y="240487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2DEEE"/>
                </a:solidFill>
              </a:defRPr>
            </a:pPr>
            <a:r>
              <a:t>EDA</a:t>
            </a:r>
          </a:p>
        </p:txBody>
      </p:sp>
      <p:sp>
        <p:nvSpPr>
          <p:cNvPr id="20" name="Oval 19"/>
          <p:cNvSpPr/>
          <p:nvPr/>
        </p:nvSpPr>
        <p:spPr>
          <a:xfrm>
            <a:off x="9189720" y="3246120"/>
            <a:ext cx="658368" cy="658368"/>
          </a:xfrm>
          <a:prstGeom prst="ellipse">
            <a:avLst/>
          </a:prstGeom>
          <a:solidFill>
            <a:srgbClr val="307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9528" y="331927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2DEEE"/>
                </a:solidFill>
              </a:defRPr>
            </a:pPr>
            <a:r>
              <a:t>BI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4160520"/>
            <a:ext cx="658368" cy="658368"/>
          </a:xfrm>
          <a:prstGeom prst="ellipse">
            <a:avLst/>
          </a:prstGeom>
          <a:solidFill>
            <a:srgbClr val="4B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36808" y="423367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2DEEE"/>
                </a:solidFill>
              </a:defRPr>
            </a:pPr>
            <a:r>
              <a:t>STATS</a:t>
            </a:r>
          </a:p>
        </p:txBody>
      </p:sp>
      <p:sp>
        <p:nvSpPr>
          <p:cNvPr id="24" name="Oval 23"/>
          <p:cNvSpPr/>
          <p:nvPr/>
        </p:nvSpPr>
        <p:spPr>
          <a:xfrm>
            <a:off x="9189720" y="5074920"/>
            <a:ext cx="658368" cy="658368"/>
          </a:xfrm>
          <a:prstGeom prst="ellipse">
            <a:avLst/>
          </a:prstGeom>
          <a:solidFill>
            <a:srgbClr val="307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5148072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2DEEE"/>
                </a:solidFill>
              </a:defRPr>
            </a:pPr>
            <a:r>
              <a:t>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80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8D3"/>
                </a:solidFill>
              </a:defRPr>
            </a:pPr>
            <a:r>
              <a:t>ApexPlanet Data Analytics Internship • Task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080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5B8D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Task 5 — Objective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Consolidate the internship work into one professional, end-to-end portfolio.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438912" cy="438912"/>
          </a:xfrm>
          <a:prstGeom prst="ellipse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490472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Master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Create a single GitHub portfolio as the central reference for all completed work, with a strong README and project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36792" y="1490472"/>
            <a:ext cx="438912" cy="438912"/>
          </a:xfrm>
          <a:prstGeom prst="ellipse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1490472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Presentation &amp; Reflection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3911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Include the refined final deck, key technical learnings, and a concise reflection on the internship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1" y="3593592"/>
            <a:ext cx="438912" cy="438912"/>
          </a:xfrm>
          <a:prstGeom prst="ellipse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2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Portfolio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4223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README.md • project repositories • final presentation • skills &amp; learnings • optional GitHub Pages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36792" y="3593592"/>
            <a:ext cx="438912" cy="438912"/>
          </a:xfrm>
          <a:prstGeom prst="ellipse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3593592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Final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4223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Master GitHub portfolio plus a 3–5 minute walkthrough/video explaining the projects and learning outcomes.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Task 5 brief shown in the provided internship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From Raw Data to Business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The completed work follows an end-to-end analytics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993392"/>
            <a:ext cx="438912" cy="438912"/>
          </a:xfrm>
          <a:prstGeom prst="ellipse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99339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42032"/>
            <a:ext cx="1783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Excel dataset</a:t>
            </a:r>
            <a:br/>
            <a:r>
              <a:t>quality checks &amp; cleaning</a:t>
            </a:r>
          </a:p>
        </p:txBody>
      </p:sp>
      <p:sp>
        <p:nvSpPr>
          <p:cNvPr id="9" name="Chevron 8"/>
          <p:cNvSpPr/>
          <p:nvPr/>
        </p:nvSpPr>
        <p:spPr>
          <a:xfrm>
            <a:off x="2834639" y="2606040"/>
            <a:ext cx="320040" cy="384048"/>
          </a:xfrm>
          <a:prstGeom prst="chevron">
            <a:avLst/>
          </a:prstGeom>
          <a:solidFill>
            <a:srgbClr val="C3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44952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9544" y="1993392"/>
            <a:ext cx="438912" cy="438912"/>
          </a:xfrm>
          <a:prstGeom prst="ellipse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199339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EDA +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542032"/>
            <a:ext cx="1783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Python analysis</a:t>
            </a:r>
            <a:br/>
            <a:r>
              <a:t>patterns &amp; business queries</a:t>
            </a:r>
          </a:p>
        </p:txBody>
      </p:sp>
      <p:sp>
        <p:nvSpPr>
          <p:cNvPr id="14" name="Chevron 13"/>
          <p:cNvSpPr/>
          <p:nvPr/>
        </p:nvSpPr>
        <p:spPr>
          <a:xfrm>
            <a:off x="5239512" y="2606040"/>
            <a:ext cx="320040" cy="384048"/>
          </a:xfrm>
          <a:prstGeom prst="chevron">
            <a:avLst/>
          </a:prstGeom>
          <a:solidFill>
            <a:srgbClr val="C3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9824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1993392"/>
            <a:ext cx="438912" cy="438912"/>
          </a:xfrm>
          <a:prstGeom prst="ellipse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99339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2542032"/>
            <a:ext cx="1783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Interactive dashboard</a:t>
            </a:r>
            <a:br/>
            <a:r>
              <a:t>KPIs &amp; visual exploration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7644384" y="2606040"/>
            <a:ext cx="320040" cy="384048"/>
          </a:xfrm>
          <a:prstGeom prst="chevron">
            <a:avLst/>
          </a:prstGeom>
          <a:solidFill>
            <a:srgbClr val="C3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54696" y="1828800"/>
            <a:ext cx="21488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9288" y="1993392"/>
            <a:ext cx="438912" cy="438912"/>
          </a:xfrm>
          <a:prstGeom prst="ellipse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199339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Statistical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5" y="2542032"/>
            <a:ext cx="1783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Welch’s t-test</a:t>
            </a:r>
            <a:br/>
            <a:r>
              <a:t>hypothesis evaluation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10049256" y="2606040"/>
            <a:ext cx="320040" cy="384048"/>
          </a:xfrm>
          <a:prstGeom prst="chevron">
            <a:avLst/>
          </a:prstGeom>
          <a:solidFill>
            <a:srgbClr val="C3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59567" y="1828800"/>
            <a:ext cx="2331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59" y="1993392"/>
            <a:ext cx="438912" cy="438912"/>
          </a:xfrm>
          <a:prstGeom prst="ellipse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799" y="1993392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2447" y="2542032"/>
            <a:ext cx="1965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22A37"/>
                </a:solidFill>
              </a:defRPr>
            </a:pPr>
            <a:r>
              <a:t>Integrate outputs</a:t>
            </a:r>
            <a:br/>
            <a:r>
              <a:t>README + final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091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240"/>
                </a:solidFill>
              </a:defRPr>
            </a:pPr>
            <a:r>
              <a:t>Core toolset: Excel • Python (Pandas, NumPy, Matplotlib, Seaborn) • SQLite/SQL • Power BI • SciPy</a:t>
            </a:r>
          </a:p>
          <a:p>
            <a:pPr>
              <a:defRPr sz="1200">
                <a:solidFill>
                  <a:srgbClr val="677487"/>
                </a:solidFill>
              </a:defRPr>
            </a:pPr>
            <a:r>
              <a:t>The workflow combines descriptive analysis, visualization, querying, and statistical validation.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completed notebooks, cleaned dataset, Power BI dashboard, and Task 4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Dataset &amp;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E-Commerce Sales Performance — analysis period: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1,000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051560"/>
          </a:xfrm>
          <a:prstGeom prst="rect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992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Unique orders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25880"/>
            <a:ext cx="54864" cy="1051560"/>
          </a:xfrm>
          <a:prstGeom prst="rect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947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Unique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25880"/>
            <a:ext cx="54864" cy="1051560"/>
          </a:xfrm>
          <a:prstGeom prst="rect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0920" y="1325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5K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quantity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325880"/>
            <a:ext cx="54864" cy="1051560"/>
          </a:xfrm>
          <a:prstGeom prst="rect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132588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₹139.40M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325880"/>
            <a:ext cx="54864" cy="1051560"/>
          </a:xfrm>
          <a:prstGeom prst="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34924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Business Problem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Identify sales trends and high-performing periods.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Find top-performing products and categories.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Compare sales across cities and customer groups.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Convert raw transactions into actionable business insights.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97480"/>
            <a:ext cx="534924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Data &amp; Preparation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14 fields including order, customer, product, category, quantity, price and sales.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Quality checks included shape, column review, information, descriptive statistics, missing values and duplicates.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Analysis was performed on the cleaned sales dataset.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Cleaned_Sales_Dataset.xlsx and Task 4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Exploratory Analysis &amp;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Python was used for exploration; SQL queries translated business questions into repeatable analysis.</a:t>
            </a:r>
          </a:p>
        </p:txBody>
      </p:sp>
      <p:pic>
        <p:nvPicPr>
          <p:cNvPr id="5" name="Picture 4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94960" cy="3019653"/>
          </a:xfrm>
          <a:prstGeom prst="rect">
            <a:avLst/>
          </a:prstGeom>
        </p:spPr>
      </p:pic>
      <p:pic>
        <p:nvPicPr>
          <p:cNvPr id="6" name="Picture 5" descr="categor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" cy="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617720"/>
            <a:ext cx="10972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46304"/>
          <a:lstStyle/>
          <a:p>
            <a:pPr algn="ctr">
              <a:defRPr sz="1400" b="1">
                <a:solidFill>
                  <a:srgbClr val="142240"/>
                </a:solidFill>
              </a:defRPr>
            </a:pPr>
            <a:r>
              <a:t>SQL business questions</a:t>
            </a:r>
          </a:p>
          <a:p>
            <a:pPr>
              <a:defRPr sz="1150">
                <a:solidFill>
                  <a:srgbClr val="222A37"/>
                </a:solidFill>
              </a:defRPr>
            </a:pPr>
            <a:r>
              <a:t>Total Sales  •  Average Sales  •  Top 10 Products  •  Sales by Category  •  Sales by Gender  •  Monthly Sales  •  Top Cities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The same dataset was loaded into SQLite and queried using GROUP BY, ORDER BY, LIMIT, SUM and AVG.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Dashboard (1).ipynb — EDA and SQLite/SQL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Power BI Sales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Interactive view of KPIs, monthly sales, category, city, product and gender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543800" cy="49834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f596661-e61c-41c8-b475-7585033f7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607629"/>
            <a:ext cx="7223760" cy="40633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280160"/>
            <a:ext cx="3063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₹139.40M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280160"/>
            <a:ext cx="54864" cy="868680"/>
          </a:xfrm>
          <a:prstGeom prst="rect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2286000"/>
            <a:ext cx="3063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992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286000"/>
            <a:ext cx="54864" cy="868680"/>
          </a:xfrm>
          <a:prstGeom prst="rect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3291840"/>
            <a:ext cx="3063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947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291840"/>
            <a:ext cx="54864" cy="868680"/>
          </a:xfrm>
          <a:prstGeom prst="rect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4297680"/>
            <a:ext cx="3063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5K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Total Quantity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297680"/>
            <a:ext cx="54864" cy="868680"/>
          </a:xfrm>
          <a:prstGeom prst="rect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5303520"/>
            <a:ext cx="3063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₹140.52K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Average Order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303520"/>
            <a:ext cx="54864" cy="868680"/>
          </a:xfrm>
          <a:prstGeom prst="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Power BI dashboard screenshot supplied for Task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The Power BI analysis and Task 4 report identified the following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737360"/>
          </a:xfrm>
          <a:prstGeom prst="rect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240"/>
                </a:solidFill>
              </a:defRPr>
            </a:pPr>
            <a:r>
              <a:t>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2CD"/>
                </a:solidFill>
              </a:defRPr>
            </a:pPr>
            <a:r>
              <a:t>₹50,778,581.70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7"/>
                </a:solidFill>
              </a:defRPr>
            </a:pPr>
            <a:r>
              <a:t>Highest category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73152" cy="1737360"/>
          </a:xfrm>
          <a:prstGeom prst="rect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240"/>
                </a:solidFill>
              </a:defRPr>
            </a:pPr>
            <a:r>
              <a:t>Laptop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029967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B4D6"/>
                </a:solidFill>
              </a:defRPr>
            </a:pPr>
            <a:r>
              <a:t>₹25,443,008.51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871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7"/>
                </a:solidFill>
              </a:defRPr>
            </a:pPr>
            <a:r>
              <a:t>Highest product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20440"/>
            <a:ext cx="73152" cy="1737360"/>
          </a:xfrm>
          <a:prstGeom prst="rect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033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240"/>
                </a:solidFill>
              </a:defRPr>
            </a:pPr>
            <a:r>
              <a:t>March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78808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946B"/>
                </a:solidFill>
              </a:defRPr>
            </a:pPr>
            <a:r>
              <a:t>₹13,059,899.94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3600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7"/>
                </a:solidFill>
              </a:defRPr>
            </a:pPr>
            <a:r>
              <a:t>Highest monthly sales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20440"/>
            <a:ext cx="73152" cy="1737360"/>
          </a:xfrm>
          <a:prstGeom prst="rect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7033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240"/>
                </a:solidFill>
              </a:defRPr>
            </a:pPr>
            <a:r>
              <a:t>Patna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178808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8B38"/>
                </a:solidFill>
              </a:defRPr>
            </a:pPr>
            <a:r>
              <a:t>₹20,826,584.43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63600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77487"/>
                </a:solidFill>
              </a:defRPr>
            </a:pPr>
            <a:r>
              <a:t>Highest city-wise sales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Task 4 report, page 3 — Key Insights from the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Business question: Is there a significant difference in average Total Sales between Male and Female customers?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H₀ — Null Hypothesis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There is no significant difference in average Total Sales between Male and Female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29000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H₁ — Alternative Hypothesis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There is a significant difference in average Total Sales between Male and Female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Test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Independent Samples T-Test (Welch’s t-test)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Significance level α = 0.05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0.682610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T-Statistic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2D7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33832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0.495011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P-Value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383280"/>
            <a:ext cx="54864" cy="1143000"/>
          </a:xfrm>
          <a:prstGeom prst="rect">
            <a:avLst/>
          </a:prstGeom>
          <a:solidFill>
            <a:srgbClr val="4AB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0" y="338328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0.05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Significance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383280"/>
            <a:ext cx="54864" cy="1143000"/>
          </a:xfrm>
          <a:prstGeom prst="rect">
            <a:avLst/>
          </a:prstGeom>
          <a:solidFill>
            <a:srgbClr val="E7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33832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2100" b="1">
                <a:solidFill>
                  <a:srgbClr val="142240"/>
                </a:solidFill>
              </a:defRPr>
            </a:pPr>
            <a:r>
              <a:t>Fail to Reject H₀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383280"/>
            <a:ext cx="54864" cy="1143000"/>
          </a:xfrm>
          <a:prstGeom prst="rect">
            <a:avLst/>
          </a:prstGeom>
          <a:solidFill>
            <a:srgbClr val="2B9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800600"/>
            <a:ext cx="1088136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/>
          <a:lstStyle/>
          <a:p>
            <a:pPr algn="ctr">
              <a:defRPr sz="1300" b="1">
                <a:solidFill>
                  <a:srgbClr val="142240"/>
                </a:solidFill>
              </a:defRPr>
            </a:pPr>
            <a:r>
              <a:t>Female: 489 records • average ₹136,883.21     |     Male: 511 records • average ₹141,807.34</a:t>
            </a:r>
          </a:p>
          <a:p>
            <a:pPr>
              <a:defRPr sz="1050">
                <a:solidFill>
                  <a:srgbClr val="677487"/>
                </a:solidFill>
              </a:defRPr>
            </a:pPr>
            <a:r>
              <a:t>Because p = 0.495011 ≥ 0.05, the Task 4 report concludes that the observed gender difference is not statistically significant at the 5% level.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Task 4 report, pages 5–6; Task4_Hypothesis_testing.ipynb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40"/>
                </a:solidFill>
              </a:defRPr>
            </a:pPr>
            <a:r>
              <a:t>Integrated Business Story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77487"/>
                </a:solidFill>
              </a:defRPr>
            </a:pPr>
            <a:r>
              <a:t>Turning analysis into practical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43891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What the analysis tells us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Electronics generated the highest category revenue.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Laptop was the top-performing product.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March recorded the highest monthly sales.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Patna recorded the highest city-wise sales.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Gender alone did not show a statistically significant difference in average sales.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The dashboard provides a repeatable way to monitor sales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280160"/>
            <a:ext cx="5440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142240"/>
                </a:solidFill>
              </a:defRPr>
            </a:pPr>
            <a:r>
              <a:t>Action Points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Maintain sufficient Laptop inventory based on observed demand.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Study the drivers of high March sales and assess whether successful approaches can be reused.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Strengthen marketing and customer engagement in Patna.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Review low-performing products and categories for improvement opportunities.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Use multiple customer and sales factors—not gender alone—when developing business strategies.</a:t>
            </a:r>
          </a:p>
          <a:p>
            <a:pPr>
              <a:spcAft>
                <a:spcPts val="700"/>
              </a:spcAft>
              <a:defRPr sz="1250">
                <a:solidFill>
                  <a:srgbClr val="222A37"/>
                </a:solidFill>
              </a:defRPr>
            </a:pPr>
            <a:r>
              <a:t>• Use dashboard insights for inventory planning and ongoing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C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7"/>
                </a:solidFill>
              </a:defRPr>
            </a:pPr>
            <a:r>
              <a:t>Source: Task 4 report, page 7 — Recommendations / Call to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Portfolio Finalization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t>A single professional home for the completed internship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486400" cy="3566160"/>
          </a:xfrm>
          <a:prstGeom prst="roundRect">
            <a:avLst/>
          </a:prstGeom>
          <a:solidFill>
            <a:srgbClr val="1D2D4D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 b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Recommended GitHub structure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README.md — internship overview, objectives, tools and outcomes.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Project repositories — links to each completed task/project.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Final presentation — refined capstone deck.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Screenshots / outputs — dashboard and selected analysis visuals.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Skills &amp; learnings — Python, SQL, Power BI, statistics and data storytelling.</a:t>
            </a:r>
          </a:p>
          <a:p>
            <a:pPr>
              <a:spcAft>
                <a:spcPts val="700"/>
              </a:spcAft>
              <a:defRPr sz="1250">
                <a:solidFill>
                  <a:srgbClr val="FFFFFF"/>
                </a:solidFill>
              </a:defRPr>
            </a:pPr>
            <a:r>
              <a:t>• Optional GitHub Pages site — visual portfolio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2D7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Python / 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417320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4A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SQL /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468880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2B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468880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E7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Data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520439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C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Statistics / SciPy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520439"/>
            <a:ext cx="224028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2D7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Business Storytelling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800600"/>
            <a:ext cx="4892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AB4D6"/>
                </a:solidFill>
              </a:defRPr>
            </a:pPr>
            <a:r>
              <a:t>Final outcome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 complete analytics workflow—from raw sales data to validated insights, interactive reporting, and a professional portfolio.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465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55624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B9C3D2"/>
                </a:solidFill>
              </a:defRPr>
            </a:pPr>
            <a:r>
              <a:t>Task 5 deliverable: master portfolio + final presentation + walkthrough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9C3D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